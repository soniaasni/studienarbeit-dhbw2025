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4C6F5C-8394-499A-B74A-2887A4D69D20}" v="2" dt="2026-05-18T13:12:28.5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1666" y="-125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er, Marius" userId="73e198c0-4891-41c9-a475-1c219e411f9f" providerId="ADAL" clId="{B2A80625-E86A-4CEB-9035-CBD35C99A22C}"/>
    <pc:docChg chg="undo custSel modSld">
      <pc:chgData name="Maurer, Marius" userId="73e198c0-4891-41c9-a475-1c219e411f9f" providerId="ADAL" clId="{B2A80625-E86A-4CEB-9035-CBD35C99A22C}" dt="2026-05-18T13:14:14.578" v="34" actId="33524"/>
      <pc:docMkLst>
        <pc:docMk/>
      </pc:docMkLst>
      <pc:sldChg chg="addSp modSp mod">
        <pc:chgData name="Maurer, Marius" userId="73e198c0-4891-41c9-a475-1c219e411f9f" providerId="ADAL" clId="{B2A80625-E86A-4CEB-9035-CBD35C99A22C}" dt="2026-05-18T13:14:14.578" v="34" actId="33524"/>
        <pc:sldMkLst>
          <pc:docMk/>
          <pc:sldMk cId="332124325" sldId="256"/>
        </pc:sldMkLst>
        <pc:spChg chg="mod">
          <ac:chgData name="Maurer, Marius" userId="73e198c0-4891-41c9-a475-1c219e411f9f" providerId="ADAL" clId="{B2A80625-E86A-4CEB-9035-CBD35C99A22C}" dt="2026-05-18T13:14:14.578" v="34" actId="33524"/>
          <ac:spMkLst>
            <pc:docMk/>
            <pc:sldMk cId="332124325" sldId="256"/>
            <ac:spMk id="46" creationId="{7973F9EF-2DB4-3A29-3EDE-3F4DE845EC8F}"/>
          </ac:spMkLst>
        </pc:spChg>
        <pc:spChg chg="add mod">
          <ac:chgData name="Maurer, Marius" userId="73e198c0-4891-41c9-a475-1c219e411f9f" providerId="ADAL" clId="{B2A80625-E86A-4CEB-9035-CBD35C99A22C}" dt="2026-05-18T13:13:58.898" v="33" actId="122"/>
          <ac:spMkLst>
            <pc:docMk/>
            <pc:sldMk cId="332124325" sldId="256"/>
            <ac:spMk id="49" creationId="{C4859A16-0F7A-2917-7B0B-9FA00200A40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A61C3E-B578-482D-ADF4-0DD2B122CA35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1CD80-24AA-4701-B590-8AF1C1D9D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61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1pPr>
    <a:lvl2pPr marL="1239789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2pPr>
    <a:lvl3pPr marL="2479578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3pPr>
    <a:lvl4pPr marL="3719368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4pPr>
    <a:lvl5pPr marL="4959157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5pPr>
    <a:lvl6pPr marL="6198946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6pPr>
    <a:lvl7pPr marL="7438735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7pPr>
    <a:lvl8pPr marL="8678525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8pPr>
    <a:lvl9pPr marL="9918314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8183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5269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52307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668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9859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8947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798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0024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8896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0669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397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967564-6120-49BA-AFB2-40F93D1AEBD4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A162AFD-AFC0-5B42-191C-CFA55B962C1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414000" y="30059313"/>
            <a:ext cx="581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6434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AE78F287-B35B-340A-FB9E-F3C1C9206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008"/>
          <a:stretch>
            <a:fillRect/>
          </a:stretch>
        </p:blipFill>
        <p:spPr>
          <a:xfrm>
            <a:off x="411830" y="5685715"/>
            <a:ext cx="3476096" cy="2178000"/>
          </a:xfrm>
          <a:prstGeom prst="rect">
            <a:avLst/>
          </a:prstGeom>
        </p:spPr>
      </p:pic>
      <p:pic>
        <p:nvPicPr>
          <p:cNvPr id="7" name="Grafik 6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436412D9-10B4-A546-49F9-C359918E57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55" b="6308"/>
          <a:stretch>
            <a:fillRect/>
          </a:stretch>
        </p:blipFill>
        <p:spPr>
          <a:xfrm>
            <a:off x="411829" y="7953250"/>
            <a:ext cx="3476097" cy="2178000"/>
          </a:xfrm>
          <a:prstGeom prst="rect">
            <a:avLst/>
          </a:prstGeom>
        </p:spPr>
      </p:pic>
      <p:pic>
        <p:nvPicPr>
          <p:cNvPr id="9" name="Grafik 8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2EE2B6D6-CA77-5E86-0D2F-37D3A2A72A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71" r="16010" b="32163"/>
          <a:stretch>
            <a:fillRect/>
          </a:stretch>
        </p:blipFill>
        <p:spPr>
          <a:xfrm>
            <a:off x="411828" y="3067922"/>
            <a:ext cx="3476098" cy="2527200"/>
          </a:xfrm>
          <a:prstGeom prst="rect">
            <a:avLst/>
          </a:prstGeom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31D4E33-D44B-C31E-504F-FD6068183B5F}"/>
              </a:ext>
            </a:extLst>
          </p:cNvPr>
          <p:cNvCxnSpPr/>
          <p:nvPr/>
        </p:nvCxnSpPr>
        <p:spPr>
          <a:xfrm>
            <a:off x="-1" y="1775104"/>
            <a:ext cx="1016134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553CD21-7989-24CB-AEB5-B8279D1D1C68}"/>
              </a:ext>
            </a:extLst>
          </p:cNvPr>
          <p:cNvCxnSpPr>
            <a:cxnSpLocks/>
          </p:cNvCxnSpPr>
          <p:nvPr/>
        </p:nvCxnSpPr>
        <p:spPr>
          <a:xfrm>
            <a:off x="10155514" y="1775104"/>
            <a:ext cx="55278" cy="288790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B2BAB8E-709F-9762-DD3A-F6CB0BB3F97A}"/>
              </a:ext>
            </a:extLst>
          </p:cNvPr>
          <p:cNvSpPr txBox="1"/>
          <p:nvPr/>
        </p:nvSpPr>
        <p:spPr>
          <a:xfrm>
            <a:off x="331691" y="1928452"/>
            <a:ext cx="9614367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Kurven Funktionen zur Berechnung der Fahrtwegen zum Ausweichen von Hindernissen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7101EAF-6A18-967A-24E7-520D3D833336}"/>
              </a:ext>
            </a:extLst>
          </p:cNvPr>
          <p:cNvSpPr txBox="1"/>
          <p:nvPr/>
        </p:nvSpPr>
        <p:spPr>
          <a:xfrm>
            <a:off x="3992654" y="3068276"/>
            <a:ext cx="5953404" cy="2526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Parabel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Einfache Funktion mit konstanter Krümmung (zweite Ableitung konstant)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Nur ein Scheitelpunkt → keine flexible Anpassung an Hindernisse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Keine gute Rückführung auf die ursprüngliche Spur nach dem Ausweichen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393426E-AB19-B36C-B8F5-93EAC23E8A6E}"/>
              </a:ext>
            </a:extLst>
          </p:cNvPr>
          <p:cNvSpPr txBox="1"/>
          <p:nvPr/>
        </p:nvSpPr>
        <p:spPr>
          <a:xfrm>
            <a:off x="3992654" y="5684657"/>
            <a:ext cx="5953404" cy="2179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Exponentialfunktion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Stark asymmetrisches Verhalten (einseitig starkes Wachstum/Abfall)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Keine Symmetrie und kein Scheitelpunkt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Für Ausweichmanöver meist ungeeignet, da zu abrupt oder zu flach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C21C7F8-A4EF-125E-EDBA-1944ADCD3CE6}"/>
              </a:ext>
            </a:extLst>
          </p:cNvPr>
          <p:cNvSpPr txBox="1"/>
          <p:nvPr/>
        </p:nvSpPr>
        <p:spPr>
          <a:xfrm>
            <a:off x="3992654" y="7953250"/>
            <a:ext cx="6162860" cy="2179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Gaußsche Glockenkurve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Symmetrisch und glatt (stetig differenzierbar)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Sanfte Ausweichbewegung mit automatischer Rückkehr zur Spur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Durch Kombination mehrerer Funktionen sehr flexibel für komplexe Hindernisse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DDD33276-5387-D0B6-2708-69F5979438A6}"/>
              </a:ext>
            </a:extLst>
          </p:cNvPr>
          <p:cNvSpPr txBox="1"/>
          <p:nvPr/>
        </p:nvSpPr>
        <p:spPr>
          <a:xfrm>
            <a:off x="3992654" y="10221843"/>
            <a:ext cx="6162860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Bézierkurve Parametrische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Kurve mit Kontrollpunkten → gut steuerbar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Glatt und stabil bei wenigen Punkten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Viele Kontrollpunkte → höherer Rechenaufwand und weniger lokale Kontrolle</a:t>
            </a:r>
          </a:p>
        </p:txBody>
      </p:sp>
      <p:pic>
        <p:nvPicPr>
          <p:cNvPr id="27" name="Grafik 26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822573AC-178E-6D03-8D34-8E9D4CFAE7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LightScreen/>
                    </a14:imgEffect>
                  </a14:imgLayer>
                </a14:imgProps>
              </a:ext>
            </a:extLst>
          </a:blip>
          <a:srcRect t="10088"/>
          <a:stretch>
            <a:fillRect/>
          </a:stretch>
        </p:blipFill>
        <p:spPr>
          <a:xfrm>
            <a:off x="331691" y="10220785"/>
            <a:ext cx="3556235" cy="1831271"/>
          </a:xfrm>
          <a:prstGeom prst="rect">
            <a:avLst/>
          </a:prstGeom>
        </p:spPr>
      </p:pic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745E57-698D-5C13-FD25-60E59121D220}"/>
              </a:ext>
            </a:extLst>
          </p:cNvPr>
          <p:cNvCxnSpPr/>
          <p:nvPr/>
        </p:nvCxnSpPr>
        <p:spPr>
          <a:xfrm>
            <a:off x="-1" y="12042277"/>
            <a:ext cx="1016134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Grafik 43" descr="Ein Bild, das Screenshot, Text, Farbigkeit enthält.&#10;&#10;KI-generierte Inhalte können fehlerhaft sein.">
            <a:extLst>
              <a:ext uri="{FF2B5EF4-FFF2-40B4-BE49-F238E27FC236}">
                <a16:creationId xmlns:a16="http://schemas.microsoft.com/office/drawing/2014/main" id="{7536373E-70BC-78BF-1C68-E8EAED50BDA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828" y="12888584"/>
            <a:ext cx="9534230" cy="4848258"/>
          </a:xfrm>
          <a:prstGeom prst="rect">
            <a:avLst/>
          </a:prstGeom>
        </p:spPr>
      </p:pic>
      <p:sp>
        <p:nvSpPr>
          <p:cNvPr id="45" name="Textfeld 44">
            <a:extLst>
              <a:ext uri="{FF2B5EF4-FFF2-40B4-BE49-F238E27FC236}">
                <a16:creationId xmlns:a16="http://schemas.microsoft.com/office/drawing/2014/main" id="{B2C63307-CC6A-0E28-3554-70881463BC44}"/>
              </a:ext>
            </a:extLst>
          </p:cNvPr>
          <p:cNvSpPr txBox="1"/>
          <p:nvPr/>
        </p:nvSpPr>
        <p:spPr>
          <a:xfrm>
            <a:off x="0" y="12131704"/>
            <a:ext cx="9614367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Gewichtsverteilung zur besseren Ausrichtung des LIDAR-Sensors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7973F9EF-2DB4-3A29-3EDE-3F4DE845EC8F}"/>
              </a:ext>
            </a:extLst>
          </p:cNvPr>
          <p:cNvSpPr txBox="1"/>
          <p:nvPr/>
        </p:nvSpPr>
        <p:spPr>
          <a:xfrm>
            <a:off x="0" y="17978935"/>
            <a:ext cx="9946059" cy="12264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Hochkante Einlage im Mittelteil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vordere Teil mit dem Lidar wird umgebaut und „hochkant“ ins Mittelement eingebaut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Dadurch wandert das Gewicht mehr nach innen ins Fahrzeug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Aufbau wird kompakt und besser ausbalanciert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Man baut den schweren Vorderteil so um, dass er zentral im </a:t>
            </a:r>
            <a:r>
              <a:rPr lang="de-DE" sz="2260"/>
              <a:t>Fahrzeug sitzt, </a:t>
            </a:r>
            <a:r>
              <a:rPr lang="de-DE" sz="2260" dirty="0"/>
              <a:t>statt vorne herauszuragen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r>
              <a:rPr lang="de-DE" sz="2260" b="1" dirty="0"/>
              <a:t>Frankenstein-Umbau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Das Fahrzeug wird physisch durchgesägt und neu zusammengesetzt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Vorderbau wird in die Mitte versetzt und wieder befestigt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Es entsteht eine Art „zusammengebastelte“ neue Struktur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Das Fahrzeug wird radikal zerschnitten und neu aufgebaut, um das Gewicht zu verschieben</a:t>
            </a:r>
          </a:p>
          <a:p>
            <a:endParaRPr lang="de-DE" sz="2260" dirty="0"/>
          </a:p>
          <a:p>
            <a:r>
              <a:rPr lang="de-DE" sz="2260" b="1" dirty="0"/>
              <a:t>Einkaufsrad-Lösung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Unter den vorderen Teil wird ein zusätzliches kleines Rad montiert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Dieses Rad trägt einen Teil des Gewichts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Die Konstruktion bleibt sonst fast unverändert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Man stützt den schweren Vorderteil einfach ab, statt ihn umzubauen</a:t>
            </a:r>
          </a:p>
          <a:p>
            <a:endParaRPr lang="de-DE" sz="2260" dirty="0"/>
          </a:p>
          <a:p>
            <a:endParaRPr lang="de-DE" sz="2260" dirty="0"/>
          </a:p>
          <a:p>
            <a:r>
              <a:rPr lang="de-DE" sz="2260" b="1" dirty="0"/>
              <a:t>Kurzvergleich </a:t>
            </a:r>
          </a:p>
          <a:p>
            <a:r>
              <a:rPr lang="de-DE" sz="2260" dirty="0"/>
              <a:t>Hochkante: clevere Integration</a:t>
            </a:r>
          </a:p>
          <a:p>
            <a:r>
              <a:rPr lang="de-DE" sz="2260" dirty="0"/>
              <a:t>Frankenstein: radikaler Umbau</a:t>
            </a:r>
          </a:p>
          <a:p>
            <a:r>
              <a:rPr lang="de-DE" sz="2260" dirty="0"/>
              <a:t>Einkaufsrad: einfache Abstützung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C4859A16-0F7A-2917-7B0B-9FA00200A40C}"/>
              </a:ext>
            </a:extLst>
          </p:cNvPr>
          <p:cNvSpPr txBox="1"/>
          <p:nvPr/>
        </p:nvSpPr>
        <p:spPr>
          <a:xfrm>
            <a:off x="171138" y="170193"/>
            <a:ext cx="2104665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u="sng" dirty="0">
                <a:latin typeface="Amasis MT Pro Black" panose="020F0502020204030204" pitchFamily="18" charset="0"/>
              </a:rPr>
              <a:t>Weiterentwicklung eines selbstfahrenden Fahrzeugs </a:t>
            </a:r>
          </a:p>
          <a:p>
            <a:pPr algn="ctr"/>
            <a:r>
              <a:rPr lang="de-DE" sz="4400" u="sng" dirty="0">
                <a:latin typeface="Amasis MT Pro Black" panose="020F0502020204030204" pitchFamily="18" charset="0"/>
              </a:rPr>
              <a:t>mit Lidar und anderen Sensoren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D171B0D-BEA3-3447-F325-D6980DEC0ECF}"/>
              </a:ext>
            </a:extLst>
          </p:cNvPr>
          <p:cNvSpPr txBox="1"/>
          <p:nvPr/>
        </p:nvSpPr>
        <p:spPr>
          <a:xfrm>
            <a:off x="10420247" y="3067986"/>
            <a:ext cx="10773506" cy="2179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System-Optimierung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Wechsel von Ubuntu Desktop zu Ubuntu Server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Speicherauslastung (16GB SSD): 100% -&gt; ~25%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CPU-Auslastung: ~90%  (ohne aktivem LiDAR) -&gt; ~50% (mit aktivem LiDAR)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Durch das Entfernen der UI des Raspberry </a:t>
            </a:r>
            <a:r>
              <a:rPr lang="de-DE" sz="2260" dirty="0" err="1"/>
              <a:t>Pi‘s</a:t>
            </a:r>
            <a:r>
              <a:rPr lang="de-DE" sz="2260" dirty="0"/>
              <a:t> werden dringend benötigte Ressourcen frei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E4120F-2570-6A77-8123-F0466D59CFD1}"/>
              </a:ext>
            </a:extLst>
          </p:cNvPr>
          <p:cNvSpPr txBox="1"/>
          <p:nvPr/>
        </p:nvSpPr>
        <p:spPr>
          <a:xfrm>
            <a:off x="10420247" y="5689973"/>
            <a:ext cx="10773506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Software &amp; Architektur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In Ubuntu Server werden keine GPIO Libraries automatisch mitgeliefert, folglich verwenden wir die modernere Architektur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Umstellung veralteter GPIO Bibliothek zu </a:t>
            </a:r>
            <a:r>
              <a:rPr lang="de-DE" sz="2260" dirty="0" err="1"/>
              <a:t>LibGPIOD</a:t>
            </a:r>
            <a:endParaRPr lang="de-DE" sz="226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Neue Stromverbindungen verhindern Kabelbruch der Batterieverbindung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446D99F-A928-1DCE-3F05-A0732C36BB09}"/>
              </a:ext>
            </a:extLst>
          </p:cNvPr>
          <p:cNvSpPr txBox="1"/>
          <p:nvPr/>
        </p:nvSpPr>
        <p:spPr>
          <a:xfrm>
            <a:off x="10420247" y="10216527"/>
            <a:ext cx="10773506" cy="148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Ergebnis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Deutlich mehr verfügbare Rechen- und Speicherressourcen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Stabiler Betrieb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Reproduzierbares Setup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86ED35E-4918-5F3D-1734-61774D35E7C5}"/>
              </a:ext>
            </a:extLst>
          </p:cNvPr>
          <p:cNvSpPr txBox="1"/>
          <p:nvPr/>
        </p:nvSpPr>
        <p:spPr>
          <a:xfrm>
            <a:off x="10420247" y="7953250"/>
            <a:ext cx="10773506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 err="1"/>
              <a:t>Deployment</a:t>
            </a:r>
            <a:r>
              <a:rPr lang="de-DE" sz="2260" b="1" dirty="0"/>
              <a:t> &amp; Automatisierung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Bash-Skript für OS-Setup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Ready-</a:t>
            </a:r>
            <a:r>
              <a:rPr lang="de-DE" sz="2260" dirty="0" err="1"/>
              <a:t>to</a:t>
            </a:r>
            <a:r>
              <a:rPr lang="de-DE" sz="2260" dirty="0"/>
              <a:t>-run Docker Image ohne </a:t>
            </a:r>
            <a:r>
              <a:rPr lang="de-DE" sz="2260" dirty="0" err="1"/>
              <a:t>Install</a:t>
            </a:r>
            <a:r>
              <a:rPr lang="de-DE" sz="2260" dirty="0"/>
              <a:t>-Befehle innerhalb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Nach RPI-Boot ist das komplette System Einsatzbereit ohne Menschliche Interaktion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9B1778-5EBA-834F-8155-C2EED25CEF9D}"/>
              </a:ext>
            </a:extLst>
          </p:cNvPr>
          <p:cNvSpPr txBox="1"/>
          <p:nvPr/>
        </p:nvSpPr>
        <p:spPr>
          <a:xfrm>
            <a:off x="10420247" y="1928451"/>
            <a:ext cx="9614367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Verbesserte Systemarchitektur, Reproduzierbares Setup </a:t>
            </a:r>
            <a:r>
              <a:rPr lang="de-DE" sz="3108"/>
              <a:t>und </a:t>
            </a:r>
            <a:r>
              <a:rPr lang="de-DE" sz="3108" dirty="0"/>
              <a:t>M</a:t>
            </a:r>
            <a:r>
              <a:rPr lang="de-DE" sz="3108"/>
              <a:t>odernisierung </a:t>
            </a:r>
            <a:r>
              <a:rPr lang="de-DE" sz="3108" dirty="0"/>
              <a:t>der Technik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100A4BCF-A974-0CAC-4282-9C026C72E2E4}"/>
              </a:ext>
            </a:extLst>
          </p:cNvPr>
          <p:cNvCxnSpPr>
            <a:cxnSpLocks/>
          </p:cNvCxnSpPr>
          <p:nvPr/>
        </p:nvCxnSpPr>
        <p:spPr>
          <a:xfrm>
            <a:off x="10183153" y="1780023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A7AEA1AD-5F64-81A6-0778-181BA7081140}"/>
              </a:ext>
            </a:extLst>
          </p:cNvPr>
          <p:cNvCxnSpPr>
            <a:cxnSpLocks/>
          </p:cNvCxnSpPr>
          <p:nvPr/>
        </p:nvCxnSpPr>
        <p:spPr>
          <a:xfrm>
            <a:off x="10155514" y="12052056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24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420</Words>
  <Application>Microsoft Office PowerPoint</Application>
  <PresentationFormat>Benutzerdefiniert</PresentationFormat>
  <Paragraphs>70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Amasis MT Pro Black</vt:lpstr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Maurer, Marius</dc:creator>
  <cp:lastModifiedBy>Scott Hebach</cp:lastModifiedBy>
  <cp:revision>3</cp:revision>
  <dcterms:created xsi:type="dcterms:W3CDTF">2026-05-18T12:19:23Z</dcterms:created>
  <dcterms:modified xsi:type="dcterms:W3CDTF">2026-05-19T21:24:47Z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97c528e-e8db-4a71-b5cb-4edd5b40a06c_Enabled">
    <vt:lpwstr>true</vt:lpwstr>
  </property>
  <property fmtid="{D5CDD505-2E9C-101B-9397-08002B2CF9AE}" pid="3" name="MSIP_Label_e97c528e-e8db-4a71-b5cb-4edd5b40a06c_SetDate">
    <vt:lpwstr>2026-05-18T13:11:32Z</vt:lpwstr>
  </property>
  <property fmtid="{D5CDD505-2E9C-101B-9397-08002B2CF9AE}" pid="4" name="MSIP_Label_e97c528e-e8db-4a71-b5cb-4edd5b40a06c_Method">
    <vt:lpwstr>Standard</vt:lpwstr>
  </property>
  <property fmtid="{D5CDD505-2E9C-101B-9397-08002B2CF9AE}" pid="5" name="MSIP_Label_e97c528e-e8db-4a71-b5cb-4edd5b40a06c_Name">
    <vt:lpwstr>ifminternal</vt:lpwstr>
  </property>
  <property fmtid="{D5CDD505-2E9C-101B-9397-08002B2CF9AE}" pid="6" name="MSIP_Label_e97c528e-e8db-4a71-b5cb-4edd5b40a06c_SiteId">
    <vt:lpwstr>2782ef14-4849-46b4-b90d-d7e83fc425ca</vt:lpwstr>
  </property>
  <property fmtid="{D5CDD505-2E9C-101B-9397-08002B2CF9AE}" pid="7" name="MSIP_Label_e97c528e-e8db-4a71-b5cb-4edd5b40a06c_ActionId">
    <vt:lpwstr>d8cd7994-82fd-427a-9ad2-f42f294a76cc</vt:lpwstr>
  </property>
  <property fmtid="{D5CDD505-2E9C-101B-9397-08002B2CF9AE}" pid="8" name="MSIP_Label_e97c528e-e8db-4a71-b5cb-4edd5b40a06c_ContentBits">
    <vt:lpwstr>2</vt:lpwstr>
  </property>
  <property fmtid="{D5CDD505-2E9C-101B-9397-08002B2CF9AE}" pid="9" name="MSIP_Label_e97c528e-e8db-4a71-b5cb-4edd5b40a06c_Tag">
    <vt:lpwstr>10, 3, 0, 1</vt:lpwstr>
  </property>
  <property fmtid="{D5CDD505-2E9C-101B-9397-08002B2CF9AE}" pid="10" name="ClassificationContentMarkingFooterLocations">
    <vt:lpwstr>Office:8</vt:lpwstr>
  </property>
  <property fmtid="{D5CDD505-2E9C-101B-9397-08002B2CF9AE}" pid="11" name="ClassificationContentMarkingFooterText">
    <vt:lpwstr>INTERNAL</vt:lpwstr>
  </property>
  <property fmtid="{D5CDD505-2E9C-101B-9397-08002B2CF9AE}" pid="12" name="MSIP_Label_8db35b9b-34e3-4211-8ec1-253280c6bd5e_Enabled">
    <vt:lpwstr>true</vt:lpwstr>
  </property>
  <property fmtid="{D5CDD505-2E9C-101B-9397-08002B2CF9AE}" pid="13" name="MSIP_Label_8db35b9b-34e3-4211-8ec1-253280c6bd5e_SetDate">
    <vt:lpwstr>2026-05-19T21:04:08Z</vt:lpwstr>
  </property>
  <property fmtid="{D5CDD505-2E9C-101B-9397-08002B2CF9AE}" pid="14" name="MSIP_Label_8db35b9b-34e3-4211-8ec1-253280c6bd5e_Method">
    <vt:lpwstr>Privileged</vt:lpwstr>
  </property>
  <property fmtid="{D5CDD505-2E9C-101B-9397-08002B2CF9AE}" pid="15" name="MSIP_Label_8db35b9b-34e3-4211-8ec1-253280c6bd5e_Name">
    <vt:lpwstr>C1 - Public</vt:lpwstr>
  </property>
  <property fmtid="{D5CDD505-2E9C-101B-9397-08002B2CF9AE}" pid="16" name="MSIP_Label_8db35b9b-34e3-4211-8ec1-253280c6bd5e_SiteId">
    <vt:lpwstr>dca04e92-b0c8-46b4-9d33-f893be36d972</vt:lpwstr>
  </property>
  <property fmtid="{D5CDD505-2E9C-101B-9397-08002B2CF9AE}" pid="17" name="MSIP_Label_8db35b9b-34e3-4211-8ec1-253280c6bd5e_ActionId">
    <vt:lpwstr>b043101e-5709-4b4e-bb64-ab2ab49c80e4</vt:lpwstr>
  </property>
  <property fmtid="{D5CDD505-2E9C-101B-9397-08002B2CF9AE}" pid="18" name="MSIP_Label_8db35b9b-34e3-4211-8ec1-253280c6bd5e_ContentBits">
    <vt:lpwstr>0</vt:lpwstr>
  </property>
  <property fmtid="{D5CDD505-2E9C-101B-9397-08002B2CF9AE}" pid="19" name="MSIP_Label_8db35b9b-34e3-4211-8ec1-253280c6bd5e_Tag">
    <vt:lpwstr>10, 0, 1, 1</vt:lpwstr>
  </property>
</Properties>
</file>