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4C6F5C-8394-499A-B74A-2887A4D69D20}" v="2" dt="2026-05-18T13:12:28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720" y="-188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er, Marius" userId="73e198c0-4891-41c9-a475-1c219e411f9f" providerId="ADAL" clId="{B2A80625-E86A-4CEB-9035-CBD35C99A22C}"/>
    <pc:docChg chg="undo custSel modSld">
      <pc:chgData name="Maurer, Marius" userId="73e198c0-4891-41c9-a475-1c219e411f9f" providerId="ADAL" clId="{B2A80625-E86A-4CEB-9035-CBD35C99A22C}" dt="2026-05-18T13:14:14.578" v="34" actId="33524"/>
      <pc:docMkLst>
        <pc:docMk/>
      </pc:docMkLst>
      <pc:sldChg chg="addSp modSp mod">
        <pc:chgData name="Maurer, Marius" userId="73e198c0-4891-41c9-a475-1c219e411f9f" providerId="ADAL" clId="{B2A80625-E86A-4CEB-9035-CBD35C99A22C}" dt="2026-05-18T13:14:14.578" v="34" actId="33524"/>
        <pc:sldMkLst>
          <pc:docMk/>
          <pc:sldMk cId="332124325" sldId="256"/>
        </pc:sldMkLst>
        <pc:spChg chg="mod">
          <ac:chgData name="Maurer, Marius" userId="73e198c0-4891-41c9-a475-1c219e411f9f" providerId="ADAL" clId="{B2A80625-E86A-4CEB-9035-CBD35C99A22C}" dt="2026-05-18T13:14:14.578" v="34" actId="33524"/>
          <ac:spMkLst>
            <pc:docMk/>
            <pc:sldMk cId="332124325" sldId="256"/>
            <ac:spMk id="46" creationId="{7973F9EF-2DB4-3A29-3EDE-3F4DE845EC8F}"/>
          </ac:spMkLst>
        </pc:spChg>
        <pc:spChg chg="add mod">
          <ac:chgData name="Maurer, Marius" userId="73e198c0-4891-41c9-a475-1c219e411f9f" providerId="ADAL" clId="{B2A80625-E86A-4CEB-9035-CBD35C99A22C}" dt="2026-05-18T13:13:58.898" v="33" actId="122"/>
          <ac:spMkLst>
            <pc:docMk/>
            <pc:sldMk cId="332124325" sldId="256"/>
            <ac:spMk id="49" creationId="{C4859A16-0F7A-2917-7B0B-9FA00200A4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61C3E-B578-482D-ADF4-0DD2B122CA35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1CD80-24AA-4701-B590-8AF1C1D9D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661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1pPr>
    <a:lvl2pPr marL="1239789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2pPr>
    <a:lvl3pPr marL="2479578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3pPr>
    <a:lvl4pPr marL="3719368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4pPr>
    <a:lvl5pPr marL="4959157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5pPr>
    <a:lvl6pPr marL="6198946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6pPr>
    <a:lvl7pPr marL="7438735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7pPr>
    <a:lvl8pPr marL="8678525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8pPr>
    <a:lvl9pPr marL="9918314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818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269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5230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66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85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94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798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002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8896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0669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397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67564-6120-49BA-AFB2-40F93D1AEBD4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EF02C-BE84-43B3-B151-AAD904C3FFFF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A162AFD-AFC0-5B42-191C-CFA55B962C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414000" y="30059313"/>
            <a:ext cx="581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643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AE78F287-B35B-340A-FB9E-F3C1C9206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008"/>
          <a:stretch>
            <a:fillRect/>
          </a:stretch>
        </p:blipFill>
        <p:spPr>
          <a:xfrm>
            <a:off x="411830" y="5685715"/>
            <a:ext cx="3476096" cy="2178000"/>
          </a:xfrm>
          <a:prstGeom prst="rect">
            <a:avLst/>
          </a:prstGeom>
        </p:spPr>
      </p:pic>
      <p:pic>
        <p:nvPicPr>
          <p:cNvPr id="7" name="Grafik 6" descr="Ein Bild, das Reihe, Diagramm, Steigung enthält.&#10;&#10;KI-generierte Inhalte können fehlerhaft sein.">
            <a:extLst>
              <a:ext uri="{FF2B5EF4-FFF2-40B4-BE49-F238E27FC236}">
                <a16:creationId xmlns:a16="http://schemas.microsoft.com/office/drawing/2014/main" id="{436412D9-10B4-A546-49F9-C359918E5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55" b="6308"/>
          <a:stretch>
            <a:fillRect/>
          </a:stretch>
        </p:blipFill>
        <p:spPr>
          <a:xfrm>
            <a:off x="411829" y="7953250"/>
            <a:ext cx="3476097" cy="2178000"/>
          </a:xfrm>
          <a:prstGeom prst="rect">
            <a:avLst/>
          </a:prstGeom>
        </p:spPr>
      </p:pic>
      <p:pic>
        <p:nvPicPr>
          <p:cNvPr id="9" name="Grafik 8" descr="Ein Bild, das Reihe, Diagramm enthält.&#10;&#10;KI-generierte Inhalte können fehlerhaft sein.">
            <a:extLst>
              <a:ext uri="{FF2B5EF4-FFF2-40B4-BE49-F238E27FC236}">
                <a16:creationId xmlns:a16="http://schemas.microsoft.com/office/drawing/2014/main" id="{2EE2B6D6-CA77-5E86-0D2F-37D3A2A72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1" r="16010" b="32163"/>
          <a:stretch>
            <a:fillRect/>
          </a:stretch>
        </p:blipFill>
        <p:spPr>
          <a:xfrm>
            <a:off x="411828" y="3067922"/>
            <a:ext cx="3476098" cy="2527200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31D4E33-D44B-C31E-504F-FD6068183B5F}"/>
              </a:ext>
            </a:extLst>
          </p:cNvPr>
          <p:cNvCxnSpPr/>
          <p:nvPr/>
        </p:nvCxnSpPr>
        <p:spPr>
          <a:xfrm>
            <a:off x="-1" y="1775104"/>
            <a:ext cx="10161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D553CD21-7989-24CB-AEB5-B8279D1D1C68}"/>
              </a:ext>
            </a:extLst>
          </p:cNvPr>
          <p:cNvCxnSpPr>
            <a:cxnSpLocks/>
          </p:cNvCxnSpPr>
          <p:nvPr/>
        </p:nvCxnSpPr>
        <p:spPr>
          <a:xfrm>
            <a:off x="10155514" y="1775104"/>
            <a:ext cx="55278" cy="288790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0B2BAB8E-709F-9762-DD3A-F6CB0BB3F97A}"/>
              </a:ext>
            </a:extLst>
          </p:cNvPr>
          <p:cNvSpPr txBox="1"/>
          <p:nvPr/>
        </p:nvSpPr>
        <p:spPr>
          <a:xfrm>
            <a:off x="331691" y="1928452"/>
            <a:ext cx="9614367" cy="1048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108" dirty="0"/>
              <a:t>Kurven Funktionen zur Berechnung der Fahrtwegen zum Ausweichen von Hindernissen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7101EAF-6A18-967A-24E7-520D3D833336}"/>
              </a:ext>
            </a:extLst>
          </p:cNvPr>
          <p:cNvSpPr txBox="1"/>
          <p:nvPr/>
        </p:nvSpPr>
        <p:spPr>
          <a:xfrm>
            <a:off x="3992654" y="3068276"/>
            <a:ext cx="5953404" cy="2526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60" b="1" dirty="0"/>
              <a:t>Parabel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Einfache Funktion mit konstanter Krümmung (zweite Ableitung konstant)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Nur ein Scheitelpunkt → keine flexible Anpassung an Hindernisse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Keine gute Rückführung auf die ursprüngliche Spur nach dem Ausweichen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A393426E-AB19-B36C-B8F5-93EAC23E8A6E}"/>
              </a:ext>
            </a:extLst>
          </p:cNvPr>
          <p:cNvSpPr txBox="1"/>
          <p:nvPr/>
        </p:nvSpPr>
        <p:spPr>
          <a:xfrm>
            <a:off x="3992654" y="5684657"/>
            <a:ext cx="5953404" cy="2179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60" b="1" dirty="0"/>
              <a:t>Exponentialfunktion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Stark asymmetrisches Verhalten (einseitig starkes Wachstum/Abfall)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Keine Symmetrie und kein Scheitelpunkt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Für Ausweichmanöver meist ungeeignet, da zu abrupt oder zu flach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C21C7F8-A4EF-125E-EDBA-1944ADCD3CE6}"/>
              </a:ext>
            </a:extLst>
          </p:cNvPr>
          <p:cNvSpPr txBox="1"/>
          <p:nvPr/>
        </p:nvSpPr>
        <p:spPr>
          <a:xfrm>
            <a:off x="3992654" y="7953250"/>
            <a:ext cx="6162860" cy="2179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60" b="1" dirty="0"/>
              <a:t>Gaußsche Glockenkurve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Symmetrisch und glatt (stetig differenzierbar)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Sanfte Ausweichbewegung mit automatischer Rückkehr zur Spur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Durch Kombination mehrerer Funktionen sehr flexibel für komplexe Hindernisse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DD33276-5387-D0B6-2708-69F5979438A6}"/>
              </a:ext>
            </a:extLst>
          </p:cNvPr>
          <p:cNvSpPr txBox="1"/>
          <p:nvPr/>
        </p:nvSpPr>
        <p:spPr>
          <a:xfrm>
            <a:off x="3992654" y="10221843"/>
            <a:ext cx="616286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60" b="1" dirty="0" err="1"/>
              <a:t>BézierkurveParametrische</a:t>
            </a:r>
            <a:r>
              <a:rPr lang="de-DE" sz="2260" b="1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Kurve mit Kontrollpunkten → gut steuerbar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Glatt und stabil bei wenigen Punkten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60" dirty="0"/>
              <a:t>Viele Kontrollpunkte → höherer Rechenaufwand und weniger lokale Kontrolle</a:t>
            </a:r>
          </a:p>
        </p:txBody>
      </p:sp>
      <p:pic>
        <p:nvPicPr>
          <p:cNvPr id="27" name="Grafik 26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822573AC-178E-6D03-8D34-8E9D4CFAE7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LightScreen/>
                    </a14:imgEffect>
                  </a14:imgLayer>
                </a14:imgProps>
              </a:ext>
            </a:extLst>
          </a:blip>
          <a:srcRect t="10088"/>
          <a:stretch>
            <a:fillRect/>
          </a:stretch>
        </p:blipFill>
        <p:spPr>
          <a:xfrm>
            <a:off x="331691" y="10220785"/>
            <a:ext cx="3556235" cy="1831271"/>
          </a:xfrm>
          <a:prstGeom prst="rect">
            <a:avLst/>
          </a:prstGeom>
        </p:spPr>
      </p:pic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B4745E57-698D-5C13-FD25-60E59121D220}"/>
              </a:ext>
            </a:extLst>
          </p:cNvPr>
          <p:cNvCxnSpPr/>
          <p:nvPr/>
        </p:nvCxnSpPr>
        <p:spPr>
          <a:xfrm>
            <a:off x="-1" y="12042277"/>
            <a:ext cx="10161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Grafik 43" descr="Ein Bild, das Screenshot, Text, Farbigkeit enthält.&#10;&#10;KI-generierte Inhalte können fehlerhaft sein.">
            <a:extLst>
              <a:ext uri="{FF2B5EF4-FFF2-40B4-BE49-F238E27FC236}">
                <a16:creationId xmlns:a16="http://schemas.microsoft.com/office/drawing/2014/main" id="{7536373E-70BC-78BF-1C68-E8EAED50BD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28" y="12888584"/>
            <a:ext cx="9534230" cy="4848258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B2C63307-CC6A-0E28-3554-70881463BC44}"/>
              </a:ext>
            </a:extLst>
          </p:cNvPr>
          <p:cNvSpPr txBox="1"/>
          <p:nvPr/>
        </p:nvSpPr>
        <p:spPr>
          <a:xfrm>
            <a:off x="0" y="12131704"/>
            <a:ext cx="9614367" cy="1048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108" dirty="0"/>
              <a:t>Gewichtsverteilung zur besseren Ausrichtung des LIDAR-Sensors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973F9EF-2DB4-3A29-3EDE-3F4DE845EC8F}"/>
              </a:ext>
            </a:extLst>
          </p:cNvPr>
          <p:cNvSpPr txBox="1"/>
          <p:nvPr/>
        </p:nvSpPr>
        <p:spPr>
          <a:xfrm>
            <a:off x="0" y="17978935"/>
            <a:ext cx="9946059" cy="12264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60" b="1" dirty="0"/>
              <a:t>Hochkante Einlage im Mittelteil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60" dirty="0"/>
              <a:t>Was bedeutet das?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Der vordere Teil mit dem Lidar wird umgebaut und „hochkant“ ins Mittelement eingebaut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Dadurch wandert das Gewicht mehr nach innen ins Fahrzeug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Der Aufbau wird kompakt und besser ausbalanciert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sz="226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60" dirty="0"/>
              <a:t>Einfach gesagt: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Man baut den schweren Vorderteil so um, dass er zentral im </a:t>
            </a:r>
            <a:r>
              <a:rPr lang="de-DE" sz="2260"/>
              <a:t>Fahrzeug sitzt, </a:t>
            </a:r>
            <a:r>
              <a:rPr lang="de-DE" sz="2260" dirty="0"/>
              <a:t>statt vorne herauszuragen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260" dirty="0"/>
          </a:p>
          <a:p>
            <a:r>
              <a:rPr lang="de-DE" sz="2260" b="1" dirty="0"/>
              <a:t>Frankenstein-Umbau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60" dirty="0"/>
              <a:t>Was bedeutet das?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Das Fahrzeug wird physisch durchgesägt und neu zusammengesetzt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Der Vorderbau wird in die Mitte versetzt und wieder befestigt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Es entsteht eine Art „zusammengebastelte“ neue Struktur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sz="226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60" dirty="0"/>
              <a:t>Einfach gesagt: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Das Fahrzeug wird radikal zerschnitten und neu aufgebaut, um das Gewicht zu verschieben</a:t>
            </a:r>
          </a:p>
          <a:p>
            <a:endParaRPr lang="de-DE" sz="2260" dirty="0"/>
          </a:p>
          <a:p>
            <a:r>
              <a:rPr lang="de-DE" sz="2260" b="1" dirty="0"/>
              <a:t>Einkaufsrad-Lösung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60" dirty="0"/>
              <a:t>Was bedeutet das?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Unter den vorderen Teil wird ein zusätzliches kleines Rad montiert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Dieses Rad trägt einen Teil des Gewichts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Die Konstruktion bleibt sonst fast unverändert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sz="226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60" dirty="0"/>
              <a:t>Einfach gesagt: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260" dirty="0"/>
              <a:t>Man stützt den schweren Vorderteil einfach ab, statt ihn umzubauen</a:t>
            </a:r>
          </a:p>
          <a:p>
            <a:endParaRPr lang="de-DE" sz="2260" dirty="0"/>
          </a:p>
          <a:p>
            <a:endParaRPr lang="de-DE" sz="2260" dirty="0"/>
          </a:p>
          <a:p>
            <a:r>
              <a:rPr lang="de-DE" sz="2260" b="1" dirty="0"/>
              <a:t>Kurzvergleich </a:t>
            </a:r>
          </a:p>
          <a:p>
            <a:r>
              <a:rPr lang="de-DE" sz="2260" dirty="0"/>
              <a:t>Hochkante: clevere Integration</a:t>
            </a:r>
          </a:p>
          <a:p>
            <a:r>
              <a:rPr lang="de-DE" sz="2260" dirty="0"/>
              <a:t>Frankenstein: radikaler Umbau</a:t>
            </a:r>
          </a:p>
          <a:p>
            <a:r>
              <a:rPr lang="de-DE" sz="2260" dirty="0"/>
              <a:t>Einkaufsrad: einfache Abstützung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C4859A16-0F7A-2917-7B0B-9FA00200A40C}"/>
              </a:ext>
            </a:extLst>
          </p:cNvPr>
          <p:cNvSpPr txBox="1"/>
          <p:nvPr/>
        </p:nvSpPr>
        <p:spPr>
          <a:xfrm>
            <a:off x="171138" y="170193"/>
            <a:ext cx="2104665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u="sng" dirty="0">
                <a:latin typeface="Amasis MT Pro Black" panose="020F0502020204030204" pitchFamily="18" charset="0"/>
              </a:rPr>
              <a:t>Weiterentwicklung eines selbstfahrenden Fahrzeugs </a:t>
            </a:r>
          </a:p>
          <a:p>
            <a:pPr algn="ctr"/>
            <a:r>
              <a:rPr lang="de-DE" sz="4400" u="sng" dirty="0">
                <a:latin typeface="Amasis MT Pro Black" panose="020F0502020204030204" pitchFamily="18" charset="0"/>
              </a:rPr>
              <a:t>mit Lidar und anderen Sensoren</a:t>
            </a:r>
          </a:p>
        </p:txBody>
      </p:sp>
    </p:spTree>
    <p:extLst>
      <p:ext uri="{BB962C8B-B14F-4D97-AF65-F5344CB8AC3E}">
        <p14:creationId xmlns:p14="http://schemas.microsoft.com/office/powerpoint/2010/main" val="332124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293</Words>
  <Application>Microsoft Office PowerPoint</Application>
  <PresentationFormat>Benutzerdefiniert</PresentationFormat>
  <Paragraphs>52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Amasis MT Pro Black</vt:lpstr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Maurer, Marius</dc:creator>
  <cp:lastModifiedBy>Maurer, Marius</cp:lastModifiedBy>
  <cp:revision>1</cp:revision>
  <dcterms:created xsi:type="dcterms:W3CDTF">2026-05-18T12:19:23Z</dcterms:created>
  <dcterms:modified xsi:type="dcterms:W3CDTF">2026-05-18T13:14:14Z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97c528e-e8db-4a71-b5cb-4edd5b40a06c_Enabled">
    <vt:lpwstr>true</vt:lpwstr>
  </property>
  <property fmtid="{D5CDD505-2E9C-101B-9397-08002B2CF9AE}" pid="3" name="MSIP_Label_e97c528e-e8db-4a71-b5cb-4edd5b40a06c_SetDate">
    <vt:lpwstr>2026-05-18T13:11:32Z</vt:lpwstr>
  </property>
  <property fmtid="{D5CDD505-2E9C-101B-9397-08002B2CF9AE}" pid="4" name="MSIP_Label_e97c528e-e8db-4a71-b5cb-4edd5b40a06c_Method">
    <vt:lpwstr>Standard</vt:lpwstr>
  </property>
  <property fmtid="{D5CDD505-2E9C-101B-9397-08002B2CF9AE}" pid="5" name="MSIP_Label_e97c528e-e8db-4a71-b5cb-4edd5b40a06c_Name">
    <vt:lpwstr>ifminternal</vt:lpwstr>
  </property>
  <property fmtid="{D5CDD505-2E9C-101B-9397-08002B2CF9AE}" pid="6" name="MSIP_Label_e97c528e-e8db-4a71-b5cb-4edd5b40a06c_SiteId">
    <vt:lpwstr>2782ef14-4849-46b4-b90d-d7e83fc425ca</vt:lpwstr>
  </property>
  <property fmtid="{D5CDD505-2E9C-101B-9397-08002B2CF9AE}" pid="7" name="MSIP_Label_e97c528e-e8db-4a71-b5cb-4edd5b40a06c_ActionId">
    <vt:lpwstr>d8cd7994-82fd-427a-9ad2-f42f294a76cc</vt:lpwstr>
  </property>
  <property fmtid="{D5CDD505-2E9C-101B-9397-08002B2CF9AE}" pid="8" name="MSIP_Label_e97c528e-e8db-4a71-b5cb-4edd5b40a06c_ContentBits">
    <vt:lpwstr>2</vt:lpwstr>
  </property>
  <property fmtid="{D5CDD505-2E9C-101B-9397-08002B2CF9AE}" pid="9" name="MSIP_Label_e97c528e-e8db-4a71-b5cb-4edd5b40a06c_Tag">
    <vt:lpwstr>10, 3, 0, 1</vt:lpwstr>
  </property>
  <property fmtid="{D5CDD505-2E9C-101B-9397-08002B2CF9AE}" pid="10" name="ClassificationContentMarkingFooterLocations">
    <vt:lpwstr>Office:8</vt:lpwstr>
  </property>
  <property fmtid="{D5CDD505-2E9C-101B-9397-08002B2CF9AE}" pid="11" name="ClassificationContentMarkingFooterText">
    <vt:lpwstr>INTERNAL</vt:lpwstr>
  </property>
</Properties>
</file>